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9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62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4114800" cy="4114800"/>
          </a:xfrm>
          <a:prstGeom prst="ellipse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" y="3693908"/>
            <a:ext cx="9105003" cy="1300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Mohit Tanwar</a:t>
            </a:r>
          </a:p>
          <a:p>
            <a:r>
              <a:rPr lang="en-US" sz="2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BCA 3</a:t>
            </a:r>
            <a:r>
              <a:rPr lang="en-US" sz="2000" baseline="30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rd</a:t>
            </a:r>
            <a:r>
              <a:rPr lang="en-US" sz="2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 Year</a:t>
            </a:r>
          </a:p>
          <a:p>
            <a:r>
              <a:rPr lang="en-US" sz="2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A-batch</a:t>
            </a:r>
          </a:p>
          <a:p>
            <a:r>
              <a:rPr lang="en-US" sz="2000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Final Year Projec</a:t>
            </a:r>
            <a:r>
              <a:rPr lang="en-US" sz="2000" i="1" dirty="0">
                <a:solidFill>
                  <a:srgbClr val="76D2D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D922CC-03E8-8D1A-B115-DFCF6AE5A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5" y="75171"/>
            <a:ext cx="1503651" cy="9100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E8D991-C5F0-0C7A-98D3-2140DBC08C71}"/>
              </a:ext>
            </a:extLst>
          </p:cNvPr>
          <p:cNvSpPr txBox="1"/>
          <p:nvPr/>
        </p:nvSpPr>
        <p:spPr>
          <a:xfrm>
            <a:off x="662940" y="455295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468F3A-BF0A-E6EE-387A-3A6E48032BE7}"/>
              </a:ext>
            </a:extLst>
          </p:cNvPr>
          <p:cNvSpPr txBox="1"/>
          <p:nvPr/>
        </p:nvSpPr>
        <p:spPr>
          <a:xfrm>
            <a:off x="702946" y="375285"/>
            <a:ext cx="59054" cy="80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DESCRIPTION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00200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Analytics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Analyse → Visualise → Export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023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09160" y="1417320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28032" y="1481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28032" y="1709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business intelligence tool built with Python and Streamlit.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2221992"/>
            <a:ext cx="4023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709160" y="2221992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28032" y="22860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28032" y="2514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CSV sales dataset and instantly generate KPIs, interactive charts, and automated AI-driven insights.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709160" y="3026664"/>
            <a:ext cx="4023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709160" y="3026664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828032" y="30906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28032" y="3319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are stored and managed in a MySQL relational database for persistence and multi-session support.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3831336"/>
            <a:ext cx="40233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709160" y="3831336"/>
            <a:ext cx="457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828032" y="38953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28032" y="4123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export of the full dashboard including charts, KPI tables, and business insights.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Chose / Made This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0352" y="162763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733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Business Problem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data-driven decisions. A dashboard that combines analytics with insights addresses an actual market need.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4630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965192" y="162763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16733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83480" y="201168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is one of the most in-demand skills globally. This project helped us build a strong, demonstrable portfolio piece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1546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30352" y="331927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649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310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Coverage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3703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spans frontend UI, backend logic, and database design — ideal for demonstrating complete software development skills.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15468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965192" y="331927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33649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3101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Applications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83480" y="3703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like DBMS, Data Structures, Python Programming, and Data Analysis were directly applied in building this real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0352" y="17099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0352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5819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full-stack data analytics web application from scratch.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65192" y="170992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65192" y="1709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15819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CSV upload, automatic data cleaning, and persistent MySQL storage.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" y="28986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035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7552" y="277063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real-time KPIs: total sales, profit, orders, and quantity sold.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60604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965192" y="28986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65192" y="2898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277063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interactive Plotly charts — trend lines, bar charts, regional analysis.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30352" y="408736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395935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Important business insights automatically from the dataset.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794760"/>
            <a:ext cx="416052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65192" y="408736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65192" y="4087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22392" y="395935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PDF export of the complete dashboard for offline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1">
            <a:extLst>
              <a:ext uri="{FF2B5EF4-FFF2-40B4-BE49-F238E27FC236}">
                <a16:creationId xmlns:a16="http://schemas.microsoft.com/office/drawing/2014/main" id="{E1B1EBA8-1605-3358-402A-B5670170DFCA}"/>
              </a:ext>
            </a:extLst>
          </p:cNvPr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</a:t>
            </a:r>
            <a:r>
              <a:rPr lang="en-US" sz="2600" b="1" dirty="0">
                <a:solidFill>
                  <a:srgbClr val="0B1D3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Programming Languages, Tools &amp; Technologies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8" name="Shape 2">
            <a:extLst>
              <a:ext uri="{FF2B5EF4-FFF2-40B4-BE49-F238E27FC236}">
                <a16:creationId xmlns:a16="http://schemas.microsoft.com/office/drawing/2014/main" id="{7FAEAADE-31BE-3D46-8B2A-CBB02164A167}"/>
              </a:ext>
            </a:extLst>
          </p:cNvPr>
          <p:cNvSpPr/>
          <p:nvPr/>
        </p:nvSpPr>
        <p:spPr>
          <a:xfrm>
            <a:off x="320040" y="9144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9" name="Shape 3">
            <a:extLst>
              <a:ext uri="{FF2B5EF4-FFF2-40B4-BE49-F238E27FC236}">
                <a16:creationId xmlns:a16="http://schemas.microsoft.com/office/drawing/2014/main" id="{8AF17FDD-6ACE-DE5F-C7E9-1E7A333E1A57}"/>
              </a:ext>
            </a:extLst>
          </p:cNvPr>
          <p:cNvSpPr/>
          <p:nvPr/>
        </p:nvSpPr>
        <p:spPr>
          <a:xfrm>
            <a:off x="320040" y="91440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4">
            <a:extLst>
              <a:ext uri="{FF2B5EF4-FFF2-40B4-BE49-F238E27FC236}">
                <a16:creationId xmlns:a16="http://schemas.microsoft.com/office/drawing/2014/main" id="{B1CD0B86-1B43-40C3-7B0F-131581952A45}"/>
              </a:ext>
            </a:extLst>
          </p:cNvPr>
          <p:cNvSpPr/>
          <p:nvPr/>
        </p:nvSpPr>
        <p:spPr>
          <a:xfrm>
            <a:off x="32004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00" dirty="0"/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A19B6D05-0D10-471A-831E-3A12C0161A4A}"/>
              </a:ext>
            </a:extLst>
          </p:cNvPr>
          <p:cNvSpPr/>
          <p:nvPr/>
        </p:nvSpPr>
        <p:spPr>
          <a:xfrm>
            <a:off x="457200" y="1371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</a:t>
            </a:r>
            <a:endParaRPr lang="en-US" sz="1300" dirty="0"/>
          </a:p>
        </p:txBody>
      </p:sp>
      <p:sp>
        <p:nvSpPr>
          <p:cNvPr id="102" name="Shape 6">
            <a:extLst>
              <a:ext uri="{FF2B5EF4-FFF2-40B4-BE49-F238E27FC236}">
                <a16:creationId xmlns:a16="http://schemas.microsoft.com/office/drawing/2014/main" id="{47F1753E-2309-CC60-7126-98CE88BF8325}"/>
              </a:ext>
            </a:extLst>
          </p:cNvPr>
          <p:cNvSpPr/>
          <p:nvPr/>
        </p:nvSpPr>
        <p:spPr>
          <a:xfrm>
            <a:off x="3154680" y="9144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4" name="Text 9">
            <a:extLst>
              <a:ext uri="{FF2B5EF4-FFF2-40B4-BE49-F238E27FC236}">
                <a16:creationId xmlns:a16="http://schemas.microsoft.com/office/drawing/2014/main" id="{AF4FF87A-59E9-E555-C475-498DEEE31C1A}"/>
              </a:ext>
            </a:extLst>
          </p:cNvPr>
          <p:cNvSpPr/>
          <p:nvPr/>
        </p:nvSpPr>
        <p:spPr>
          <a:xfrm>
            <a:off x="3291840" y="1371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05" name="Shape 10">
            <a:extLst>
              <a:ext uri="{FF2B5EF4-FFF2-40B4-BE49-F238E27FC236}">
                <a16:creationId xmlns:a16="http://schemas.microsoft.com/office/drawing/2014/main" id="{9707328E-75B3-C740-9E1A-97428A77A736}"/>
              </a:ext>
            </a:extLst>
          </p:cNvPr>
          <p:cNvSpPr/>
          <p:nvPr/>
        </p:nvSpPr>
        <p:spPr>
          <a:xfrm>
            <a:off x="5989320" y="91440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7" name="Text 13">
            <a:extLst>
              <a:ext uri="{FF2B5EF4-FFF2-40B4-BE49-F238E27FC236}">
                <a16:creationId xmlns:a16="http://schemas.microsoft.com/office/drawing/2014/main" id="{A35BEA9E-E505-1661-7458-8D0FEFAE1A9A}"/>
              </a:ext>
            </a:extLst>
          </p:cNvPr>
          <p:cNvSpPr/>
          <p:nvPr/>
        </p:nvSpPr>
        <p:spPr>
          <a:xfrm>
            <a:off x="6126480" y="13716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300" dirty="0"/>
          </a:p>
        </p:txBody>
      </p:sp>
      <p:sp>
        <p:nvSpPr>
          <p:cNvPr id="108" name="Shape 14">
            <a:extLst>
              <a:ext uri="{FF2B5EF4-FFF2-40B4-BE49-F238E27FC236}">
                <a16:creationId xmlns:a16="http://schemas.microsoft.com/office/drawing/2014/main" id="{6D93DF07-55AD-8906-A78B-DFD4AC490411}"/>
              </a:ext>
            </a:extLst>
          </p:cNvPr>
          <p:cNvSpPr/>
          <p:nvPr/>
        </p:nvSpPr>
        <p:spPr>
          <a:xfrm>
            <a:off x="320040" y="2926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0" name="Text 17">
            <a:extLst>
              <a:ext uri="{FF2B5EF4-FFF2-40B4-BE49-F238E27FC236}">
                <a16:creationId xmlns:a16="http://schemas.microsoft.com/office/drawing/2014/main" id="{764BF54F-D165-F593-2C7A-3CC8B7A0A103}"/>
              </a:ext>
            </a:extLst>
          </p:cNvPr>
          <p:cNvSpPr/>
          <p:nvPr/>
        </p:nvSpPr>
        <p:spPr>
          <a:xfrm>
            <a:off x="45720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11" name="Shape 18">
            <a:extLst>
              <a:ext uri="{FF2B5EF4-FFF2-40B4-BE49-F238E27FC236}">
                <a16:creationId xmlns:a16="http://schemas.microsoft.com/office/drawing/2014/main" id="{FF7B99FA-CFCA-09E2-5931-FF0A74C8C312}"/>
              </a:ext>
            </a:extLst>
          </p:cNvPr>
          <p:cNvSpPr/>
          <p:nvPr/>
        </p:nvSpPr>
        <p:spPr>
          <a:xfrm>
            <a:off x="3154680" y="2926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3" name="Text 21">
            <a:extLst>
              <a:ext uri="{FF2B5EF4-FFF2-40B4-BE49-F238E27FC236}">
                <a16:creationId xmlns:a16="http://schemas.microsoft.com/office/drawing/2014/main" id="{4FAE44D5-DA20-03FD-15AC-C5413360AF09}"/>
              </a:ext>
            </a:extLst>
          </p:cNvPr>
          <p:cNvSpPr/>
          <p:nvPr/>
        </p:nvSpPr>
        <p:spPr>
          <a:xfrm>
            <a:off x="329184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Express</a:t>
            </a:r>
            <a:endParaRPr lang="en-US" sz="1300" dirty="0"/>
          </a:p>
        </p:txBody>
      </p:sp>
      <p:sp>
        <p:nvSpPr>
          <p:cNvPr id="114" name="Shape 22">
            <a:extLst>
              <a:ext uri="{FF2B5EF4-FFF2-40B4-BE49-F238E27FC236}">
                <a16:creationId xmlns:a16="http://schemas.microsoft.com/office/drawing/2014/main" id="{0A233D72-9942-FCFE-F7BD-B8153FBEB76B}"/>
              </a:ext>
            </a:extLst>
          </p:cNvPr>
          <p:cNvSpPr/>
          <p:nvPr/>
        </p:nvSpPr>
        <p:spPr>
          <a:xfrm>
            <a:off x="5989320" y="2926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6" name="Text 25">
            <a:extLst>
              <a:ext uri="{FF2B5EF4-FFF2-40B4-BE49-F238E27FC236}">
                <a16:creationId xmlns:a16="http://schemas.microsoft.com/office/drawing/2014/main" id="{2BF43AC2-053D-FB0E-D992-70CAE99169BC}"/>
              </a:ext>
            </a:extLst>
          </p:cNvPr>
          <p:cNvSpPr/>
          <p:nvPr/>
        </p:nvSpPr>
        <p:spPr>
          <a:xfrm>
            <a:off x="6126480" y="338328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117" name="Shape 7">
            <a:extLst>
              <a:ext uri="{FF2B5EF4-FFF2-40B4-BE49-F238E27FC236}">
                <a16:creationId xmlns:a16="http://schemas.microsoft.com/office/drawing/2014/main" id="{45C9E5C9-644C-0E7A-1B1A-E277584A6D2A}"/>
              </a:ext>
            </a:extLst>
          </p:cNvPr>
          <p:cNvSpPr/>
          <p:nvPr/>
        </p:nvSpPr>
        <p:spPr>
          <a:xfrm>
            <a:off x="3154680" y="91440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8" name="Text 8">
            <a:extLst>
              <a:ext uri="{FF2B5EF4-FFF2-40B4-BE49-F238E27FC236}">
                <a16:creationId xmlns:a16="http://schemas.microsoft.com/office/drawing/2014/main" id="{F762BD1C-921C-185C-B848-0277AF5F2D07}"/>
              </a:ext>
            </a:extLst>
          </p:cNvPr>
          <p:cNvSpPr/>
          <p:nvPr/>
        </p:nvSpPr>
        <p:spPr>
          <a:xfrm>
            <a:off x="315468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4" name="Shape 11">
            <a:extLst>
              <a:ext uri="{FF2B5EF4-FFF2-40B4-BE49-F238E27FC236}">
                <a16:creationId xmlns:a16="http://schemas.microsoft.com/office/drawing/2014/main" id="{B8AB9DA0-C4B6-FD6D-22FE-A1D55611F07E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">
            <a:extLst>
              <a:ext uri="{FF2B5EF4-FFF2-40B4-BE49-F238E27FC236}">
                <a16:creationId xmlns:a16="http://schemas.microsoft.com/office/drawing/2014/main" id="{E7CBA5A6-7CD4-F599-5296-154942E54727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6" name="Shape 11">
            <a:extLst>
              <a:ext uri="{FF2B5EF4-FFF2-40B4-BE49-F238E27FC236}">
                <a16:creationId xmlns:a16="http://schemas.microsoft.com/office/drawing/2014/main" id="{427CDE3A-F28D-989C-0C73-595C4A54AA0B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">
            <a:extLst>
              <a:ext uri="{FF2B5EF4-FFF2-40B4-BE49-F238E27FC236}">
                <a16:creationId xmlns:a16="http://schemas.microsoft.com/office/drawing/2014/main" id="{906AA756-42A0-22D4-72D4-EC1D980D4A89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28" name="Shape 15">
            <a:extLst>
              <a:ext uri="{FF2B5EF4-FFF2-40B4-BE49-F238E27FC236}">
                <a16:creationId xmlns:a16="http://schemas.microsoft.com/office/drawing/2014/main" id="{81E839A9-0A32-2E3C-0B93-A0752CF32A87}"/>
              </a:ext>
            </a:extLst>
          </p:cNvPr>
          <p:cNvSpPr/>
          <p:nvPr/>
        </p:nvSpPr>
        <p:spPr>
          <a:xfrm>
            <a:off x="320040" y="292608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Text 16">
            <a:extLst>
              <a:ext uri="{FF2B5EF4-FFF2-40B4-BE49-F238E27FC236}">
                <a16:creationId xmlns:a16="http://schemas.microsoft.com/office/drawing/2014/main" id="{6372519F-546F-EE8D-FE43-4CDA0C8197A2}"/>
              </a:ext>
            </a:extLst>
          </p:cNvPr>
          <p:cNvSpPr/>
          <p:nvPr/>
        </p:nvSpPr>
        <p:spPr>
          <a:xfrm>
            <a:off x="32004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30" name="Shape 11">
            <a:extLst>
              <a:ext uri="{FF2B5EF4-FFF2-40B4-BE49-F238E27FC236}">
                <a16:creationId xmlns:a16="http://schemas.microsoft.com/office/drawing/2014/main" id="{88334F7F-9F20-E520-1C2C-29C4DC1F8A7C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1" name="Text 12">
            <a:extLst>
              <a:ext uri="{FF2B5EF4-FFF2-40B4-BE49-F238E27FC236}">
                <a16:creationId xmlns:a16="http://schemas.microsoft.com/office/drawing/2014/main" id="{6FE8406D-E448-B030-4590-D9AD0A3FBD3C}"/>
              </a:ext>
            </a:extLst>
          </p:cNvPr>
          <p:cNvSpPr/>
          <p:nvPr/>
        </p:nvSpPr>
        <p:spPr>
          <a:xfrm>
            <a:off x="5989320" y="91440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E83C89E4-7C0A-19CE-58FD-44DB279EC1B1}"/>
              </a:ext>
            </a:extLst>
          </p:cNvPr>
          <p:cNvSpPr/>
          <p:nvPr/>
        </p:nvSpPr>
        <p:spPr>
          <a:xfrm>
            <a:off x="320040" y="292608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6">
            <a:extLst>
              <a:ext uri="{FF2B5EF4-FFF2-40B4-BE49-F238E27FC236}">
                <a16:creationId xmlns:a16="http://schemas.microsoft.com/office/drawing/2014/main" id="{FCBDE842-E972-C772-0F76-2F99F420F300}"/>
              </a:ext>
            </a:extLst>
          </p:cNvPr>
          <p:cNvSpPr/>
          <p:nvPr/>
        </p:nvSpPr>
        <p:spPr>
          <a:xfrm>
            <a:off x="32004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34" name="Shape 19">
            <a:extLst>
              <a:ext uri="{FF2B5EF4-FFF2-40B4-BE49-F238E27FC236}">
                <a16:creationId xmlns:a16="http://schemas.microsoft.com/office/drawing/2014/main" id="{668A88CE-17C6-EF82-0917-7F1CFE97319B}"/>
              </a:ext>
            </a:extLst>
          </p:cNvPr>
          <p:cNvSpPr/>
          <p:nvPr/>
        </p:nvSpPr>
        <p:spPr>
          <a:xfrm>
            <a:off x="3154680" y="292608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20">
            <a:extLst>
              <a:ext uri="{FF2B5EF4-FFF2-40B4-BE49-F238E27FC236}">
                <a16:creationId xmlns:a16="http://schemas.microsoft.com/office/drawing/2014/main" id="{DE969776-A2B6-D718-646B-A8A8F406666E}"/>
              </a:ext>
            </a:extLst>
          </p:cNvPr>
          <p:cNvSpPr/>
          <p:nvPr/>
        </p:nvSpPr>
        <p:spPr>
          <a:xfrm>
            <a:off x="315468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300" dirty="0"/>
          </a:p>
        </p:txBody>
      </p:sp>
      <p:sp>
        <p:nvSpPr>
          <p:cNvPr id="143" name="Shape 23">
            <a:extLst>
              <a:ext uri="{FF2B5EF4-FFF2-40B4-BE49-F238E27FC236}">
                <a16:creationId xmlns:a16="http://schemas.microsoft.com/office/drawing/2014/main" id="{6C528C29-C8C8-9551-0DF4-8ABA0AE17FC7}"/>
              </a:ext>
            </a:extLst>
          </p:cNvPr>
          <p:cNvSpPr/>
          <p:nvPr/>
        </p:nvSpPr>
        <p:spPr>
          <a:xfrm>
            <a:off x="5989320" y="2926080"/>
            <a:ext cx="2606040" cy="384048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Text 24">
            <a:extLst>
              <a:ext uri="{FF2B5EF4-FFF2-40B4-BE49-F238E27FC236}">
                <a16:creationId xmlns:a16="http://schemas.microsoft.com/office/drawing/2014/main" id="{370346E8-D6BA-09C5-D4AE-AB4508C55810}"/>
              </a:ext>
            </a:extLst>
          </p:cNvPr>
          <p:cNvSpPr/>
          <p:nvPr/>
        </p:nvSpPr>
        <p:spPr>
          <a:xfrm>
            <a:off x="5989320" y="29260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/ Tools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605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9903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Contributions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804672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cleaning &amp; validation testing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487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04672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wireframing and CSS styling refinements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04672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project documentation and report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3924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04672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full Streamlit UI with dark/light theme toggle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38221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04672" y="3803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PDF export with charts using ReportLab + Kaleido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1325880"/>
            <a:ext cx="4160520" cy="347472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663440" y="1325880"/>
            <a:ext cx="416052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99032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30368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Partner's Contributions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828032" y="2020824"/>
            <a:ext cx="164592" cy="16459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5084064" y="1901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MySQL database schema for sales data</a:t>
            </a:r>
          </a:p>
        </p:txBody>
      </p:sp>
      <p:sp>
        <p:nvSpPr>
          <p:cNvPr id="25" name="Shape 21"/>
          <p:cNvSpPr/>
          <p:nvPr/>
        </p:nvSpPr>
        <p:spPr>
          <a:xfrm>
            <a:off x="4828032" y="2487168"/>
            <a:ext cx="164592" cy="16459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5084064" y="2377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database.py: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engine setup</a:t>
            </a:r>
          </a:p>
        </p:txBody>
      </p:sp>
      <p:sp>
        <p:nvSpPr>
          <p:cNvPr id="27" name="Shape 23"/>
          <p:cNvSpPr/>
          <p:nvPr/>
        </p:nvSpPr>
        <p:spPr>
          <a:xfrm>
            <a:off x="4828032" y="2969187"/>
            <a:ext cx="164592" cy="16459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5084064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DB errors with try/except blocks</a:t>
            </a:r>
          </a:p>
        </p:txBody>
      </p:sp>
      <p:sp>
        <p:nvSpPr>
          <p:cNvPr id="29" name="Shape 25"/>
          <p:cNvSpPr/>
          <p:nvPr/>
        </p:nvSpPr>
        <p:spPr>
          <a:xfrm>
            <a:off x="4828032" y="3412018"/>
            <a:ext cx="164592" cy="16459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/>
          <p:nvPr/>
        </p:nvSpPr>
        <p:spPr>
          <a:xfrm>
            <a:off x="5084064" y="33284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SzPct val="100000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DB read/write with real CSV uploads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28032" y="3913632"/>
            <a:ext cx="164592" cy="164592"/>
          </a:xfrm>
          <a:prstGeom prst="ellipse">
            <a:avLst/>
          </a:prstGeom>
          <a:solidFill>
            <a:srgbClr val="FFC000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8"/>
          <p:cNvSpPr/>
          <p:nvPr/>
        </p:nvSpPr>
        <p:spPr>
          <a:xfrm>
            <a:off x="5084064" y="3803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edge cases and bug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DATABASE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030583" y="169164"/>
            <a:ext cx="57019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</a:t>
            </a: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2900" y="899704"/>
            <a:ext cx="40233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42900" y="899704"/>
            <a:ext cx="402336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0060" y="9637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" y="15397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88820" y="1539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1900" y="1530640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71900" y="153064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2900" y="1868968"/>
            <a:ext cx="402336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" y="1960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88820" y="19604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" y="23810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uploaded_at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88820" y="2381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2900" y="2710216"/>
            <a:ext cx="402336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" y="28016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88820" y="28016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" y="32222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column_count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88820" y="32222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" y="3551464"/>
            <a:ext cx="4023360" cy="420624"/>
          </a:xfrm>
          <a:prstGeom prst="rect">
            <a:avLst/>
          </a:prstGeom>
          <a:solidFill>
            <a:srgbClr val="F0F7FF"/>
          </a:solidFill>
          <a:ln w="12700">
            <a:solidFill>
              <a:srgbClr val="F0F7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0060" y="3642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content_hash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988820" y="3642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VARCHAR(32)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" y="4063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is_active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88820" y="406352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TINYINT(1)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7740" y="928116"/>
            <a:ext cx="402336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777740" y="923544"/>
            <a:ext cx="402336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914900" y="9921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sales_records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14900" y="156819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69380" y="15681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AUTO_INC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06740" y="1559052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206740" y="15590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7740" y="1897380"/>
            <a:ext cx="402336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14900" y="198882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dataset_id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69380" y="19888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VARCHAR(12)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206740" y="1979676"/>
            <a:ext cx="457200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206740" y="19796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14900" y="240944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order_id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69380" y="24094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77740" y="2738628"/>
            <a:ext cx="402336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14900" y="283006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469380" y="283006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4900" y="325069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69380" y="32506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VARCHAR(100)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77740" y="3579876"/>
            <a:ext cx="402336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14900" y="3671316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69380" y="36713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14900" y="40919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69380" y="409194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VARCHAR(50)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77740" y="4421124"/>
            <a:ext cx="402336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14900" y="4512564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69380" y="451256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DECIMAL(10,2)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89120" y="2304288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ysDash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44">
            <a:extLst>
              <a:ext uri="{FF2B5EF4-FFF2-40B4-BE49-F238E27FC236}">
                <a16:creationId xmlns:a16="http://schemas.microsoft.com/office/drawing/2014/main" id="{760C4BF6-3293-FB8C-CE63-A2829011E6BF}"/>
              </a:ext>
            </a:extLst>
          </p:cNvPr>
          <p:cNvSpPr/>
          <p:nvPr/>
        </p:nvSpPr>
        <p:spPr>
          <a:xfrm>
            <a:off x="411480" y="4624905"/>
            <a:ext cx="4023360" cy="420624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08  SYSTEM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 / System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325880"/>
            <a:ext cx="6400800" cy="749808"/>
          </a:xfrm>
          <a:prstGeom prst="rect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08760" y="1472184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103120" y="17282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· Custom CSS · Dark/Light Theme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26280" y="2075688"/>
            <a:ext cx="0" cy="14630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71600" y="2221992"/>
            <a:ext cx="6400800" cy="749808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1508760" y="2368296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41401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2313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103120" y="2624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 · KPIs · Insights · Filters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26280" y="2971800"/>
            <a:ext cx="0" cy="14630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1371600" y="3118104"/>
            <a:ext cx="6400800" cy="749808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1508760" y="326440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3101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10312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103120" y="35204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file_storage.py · database.py · SQLAlchemy ORM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26280" y="3867912"/>
            <a:ext cx="0" cy="14630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1371600" y="4014216"/>
            <a:ext cx="6400800" cy="749808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508760" y="416052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20624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0312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2103120" y="4416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datasets table · sales_records table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09  DFD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86446" y="262563"/>
            <a:ext cx="46307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(DFD)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28653CD9-D072-AE30-0CFF-6FB1F3781452}"/>
              </a:ext>
            </a:extLst>
          </p:cNvPr>
          <p:cNvSpPr/>
          <p:nvPr/>
        </p:nvSpPr>
        <p:spPr>
          <a:xfrm>
            <a:off x="209006" y="1417320"/>
            <a:ext cx="164592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030C79A7-E9E2-3122-5C1E-1D8A2AFA3633}"/>
              </a:ext>
            </a:extLst>
          </p:cNvPr>
          <p:cNvSpPr/>
          <p:nvPr/>
        </p:nvSpPr>
        <p:spPr>
          <a:xfrm>
            <a:off x="209006" y="1417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10F03539-0F6B-BB04-D1C5-4CCFF07454CD}"/>
              </a:ext>
            </a:extLst>
          </p:cNvPr>
          <p:cNvSpPr/>
          <p:nvPr/>
        </p:nvSpPr>
        <p:spPr>
          <a:xfrm>
            <a:off x="3317966" y="1234440"/>
            <a:ext cx="2377440" cy="10972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8D49A4B8-66CE-4FEB-98FB-32F4A12D910E}"/>
              </a:ext>
            </a:extLst>
          </p:cNvPr>
          <p:cNvSpPr/>
          <p:nvPr/>
        </p:nvSpPr>
        <p:spPr>
          <a:xfrm>
            <a:off x="3317966" y="12344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System</a:t>
            </a:r>
            <a:endParaRPr lang="en-US" sz="11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0B84A93-656F-CB24-1DAF-8582EF6A1795}"/>
              </a:ext>
            </a:extLst>
          </p:cNvPr>
          <p:cNvSpPr/>
          <p:nvPr/>
        </p:nvSpPr>
        <p:spPr>
          <a:xfrm>
            <a:off x="7158446" y="1417320"/>
            <a:ext cx="1645920" cy="6858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1AFAF25C-23CF-2F7E-F709-4D3B13CC016C}"/>
              </a:ext>
            </a:extLst>
          </p:cNvPr>
          <p:cNvSpPr/>
          <p:nvPr/>
        </p:nvSpPr>
        <p:spPr>
          <a:xfrm>
            <a:off x="7158446" y="14173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130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88269CAE-C060-0FDC-F8F4-27D600DAC190}"/>
              </a:ext>
            </a:extLst>
          </p:cNvPr>
          <p:cNvSpPr/>
          <p:nvPr/>
        </p:nvSpPr>
        <p:spPr>
          <a:xfrm>
            <a:off x="1854926" y="1764792"/>
            <a:ext cx="1463040" cy="0"/>
          </a:xfrm>
          <a:prstGeom prst="line">
            <a:avLst/>
          </a:prstGeom>
          <a:noFill/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DDF9882-506C-7AFF-E45C-90307A506D84}"/>
              </a:ext>
            </a:extLst>
          </p:cNvPr>
          <p:cNvSpPr/>
          <p:nvPr/>
        </p:nvSpPr>
        <p:spPr>
          <a:xfrm>
            <a:off x="1854926" y="1508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/ Filters</a:t>
            </a:r>
            <a:endParaRPr lang="en-US" sz="9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ED084607-E917-7762-6A46-7169C7FE8EF5}"/>
              </a:ext>
            </a:extLst>
          </p:cNvPr>
          <p:cNvSpPr/>
          <p:nvPr/>
        </p:nvSpPr>
        <p:spPr>
          <a:xfrm>
            <a:off x="1854926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KPIs / Charts</a:t>
            </a:r>
            <a:endParaRPr lang="en-US" sz="9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D3C08EC5-183B-A029-E9DA-FF21E296EF4C}"/>
              </a:ext>
            </a:extLst>
          </p:cNvPr>
          <p:cNvSpPr/>
          <p:nvPr/>
        </p:nvSpPr>
        <p:spPr>
          <a:xfrm>
            <a:off x="5695406" y="1764792"/>
            <a:ext cx="146304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EFF68731-BB17-6DCA-E9B3-4DFC68E4C093}"/>
              </a:ext>
            </a:extLst>
          </p:cNvPr>
          <p:cNvSpPr/>
          <p:nvPr/>
        </p:nvSpPr>
        <p:spPr>
          <a:xfrm>
            <a:off x="5695406" y="1508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Load Data</a:t>
            </a:r>
            <a:endParaRPr lang="en-US" sz="9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DC5FB652-16C5-5AF5-094B-52E9B2ACE847}"/>
              </a:ext>
            </a:extLst>
          </p:cNvPr>
          <p:cNvSpPr/>
          <p:nvPr/>
        </p:nvSpPr>
        <p:spPr>
          <a:xfrm>
            <a:off x="5695406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Results</a:t>
            </a:r>
            <a:endParaRPr lang="en-US" sz="9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DBACC794-BF50-22ED-50FF-0D2D19E80582}"/>
              </a:ext>
            </a:extLst>
          </p:cNvPr>
          <p:cNvSpPr/>
          <p:nvPr/>
        </p:nvSpPr>
        <p:spPr>
          <a:xfrm>
            <a:off x="300446" y="2651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Process Decomposition</a:t>
            </a:r>
            <a:endParaRPr lang="en-US" sz="14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D733AF3B-F745-C4C4-580D-35EE36C2E07D}"/>
              </a:ext>
            </a:extLst>
          </p:cNvPr>
          <p:cNvSpPr/>
          <p:nvPr/>
        </p:nvSpPr>
        <p:spPr>
          <a:xfrm>
            <a:off x="209006" y="3063240"/>
            <a:ext cx="182880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D2F65FBA-DCEC-B5C4-1406-5B02A1A1F264}"/>
              </a:ext>
            </a:extLst>
          </p:cNvPr>
          <p:cNvSpPr/>
          <p:nvPr/>
        </p:nvSpPr>
        <p:spPr>
          <a:xfrm>
            <a:off x="209006" y="3063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Clean Data</a:t>
            </a:r>
            <a:endParaRPr lang="en-US" sz="100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8243C496-A249-9B49-AE1D-635D7C625614}"/>
              </a:ext>
            </a:extLst>
          </p:cNvPr>
          <p:cNvSpPr/>
          <p:nvPr/>
        </p:nvSpPr>
        <p:spPr>
          <a:xfrm>
            <a:off x="2037806" y="3566160"/>
            <a:ext cx="5029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20">
            <a:extLst>
              <a:ext uri="{FF2B5EF4-FFF2-40B4-BE49-F238E27FC236}">
                <a16:creationId xmlns:a16="http://schemas.microsoft.com/office/drawing/2014/main" id="{DA13B3C1-C6D9-0191-E484-A3A8A32B6D50}"/>
              </a:ext>
            </a:extLst>
          </p:cNvPr>
          <p:cNvSpPr/>
          <p:nvPr/>
        </p:nvSpPr>
        <p:spPr>
          <a:xfrm>
            <a:off x="2266406" y="3063240"/>
            <a:ext cx="182880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C7B5BC36-ACCE-23AF-A0E9-B73E48AD9F20}"/>
              </a:ext>
            </a:extLst>
          </p:cNvPr>
          <p:cNvSpPr/>
          <p:nvPr/>
        </p:nvSpPr>
        <p:spPr>
          <a:xfrm>
            <a:off x="2266406" y="3063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to DB</a:t>
            </a:r>
            <a:endParaRPr lang="en-US" sz="1000" dirty="0"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57F446AB-4114-189F-9110-268A489291C5}"/>
              </a:ext>
            </a:extLst>
          </p:cNvPr>
          <p:cNvSpPr/>
          <p:nvPr/>
        </p:nvSpPr>
        <p:spPr>
          <a:xfrm>
            <a:off x="4095206" y="3566160"/>
            <a:ext cx="5029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23">
            <a:extLst>
              <a:ext uri="{FF2B5EF4-FFF2-40B4-BE49-F238E27FC236}">
                <a16:creationId xmlns:a16="http://schemas.microsoft.com/office/drawing/2014/main" id="{6F8E1E3A-F746-1A0A-E691-8D981D53D933}"/>
              </a:ext>
            </a:extLst>
          </p:cNvPr>
          <p:cNvSpPr/>
          <p:nvPr/>
        </p:nvSpPr>
        <p:spPr>
          <a:xfrm>
            <a:off x="4323806" y="3063240"/>
            <a:ext cx="182880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8B22507F-6033-CC63-EF0A-97DCB1509391}"/>
              </a:ext>
            </a:extLst>
          </p:cNvPr>
          <p:cNvSpPr/>
          <p:nvPr/>
        </p:nvSpPr>
        <p:spPr>
          <a:xfrm>
            <a:off x="4323806" y="3063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Filter Data</a:t>
            </a:r>
            <a:endParaRPr lang="en-US" sz="1000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4186CE45-A04D-AA05-5A9E-3B1FF53EA381}"/>
              </a:ext>
            </a:extLst>
          </p:cNvPr>
          <p:cNvSpPr/>
          <p:nvPr/>
        </p:nvSpPr>
        <p:spPr>
          <a:xfrm>
            <a:off x="6152606" y="3566160"/>
            <a:ext cx="5029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696B85A5-FFB9-4A4A-E962-2DFA6B457D53}"/>
              </a:ext>
            </a:extLst>
          </p:cNvPr>
          <p:cNvSpPr/>
          <p:nvPr/>
        </p:nvSpPr>
        <p:spPr>
          <a:xfrm>
            <a:off x="6381206" y="3063240"/>
            <a:ext cx="1828800" cy="10058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27">
            <a:extLst>
              <a:ext uri="{FF2B5EF4-FFF2-40B4-BE49-F238E27FC236}">
                <a16:creationId xmlns:a16="http://schemas.microsoft.com/office/drawing/2014/main" id="{DB468269-DA0A-7BDC-B13C-C62D04548295}"/>
              </a:ext>
            </a:extLst>
          </p:cNvPr>
          <p:cNvSpPr/>
          <p:nvPr/>
        </p:nvSpPr>
        <p:spPr>
          <a:xfrm>
            <a:off x="6381206" y="3063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KPIs &amp; Charts</a:t>
            </a:r>
            <a:endParaRPr lang="en-US" sz="1000" dirty="0"/>
          </a:p>
        </p:txBody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3D8414B9-50E2-C2E1-E258-4BC1806472EC}"/>
              </a:ext>
            </a:extLst>
          </p:cNvPr>
          <p:cNvSpPr/>
          <p:nvPr/>
        </p:nvSpPr>
        <p:spPr>
          <a:xfrm>
            <a:off x="1763486" y="4297680"/>
            <a:ext cx="20116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29">
            <a:extLst>
              <a:ext uri="{FF2B5EF4-FFF2-40B4-BE49-F238E27FC236}">
                <a16:creationId xmlns:a16="http://schemas.microsoft.com/office/drawing/2014/main" id="{01EBEB17-D0A3-1723-3D18-72DB614CBAE1}"/>
              </a:ext>
            </a:extLst>
          </p:cNvPr>
          <p:cNvSpPr/>
          <p:nvPr/>
        </p:nvSpPr>
        <p:spPr>
          <a:xfrm>
            <a:off x="1763486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MySQL sales_data</a:t>
            </a:r>
            <a:endParaRPr lang="en-US" sz="1000" dirty="0"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8800A746-FF69-546C-EF4E-A97C1CB5B26D}"/>
              </a:ext>
            </a:extLst>
          </p:cNvPr>
          <p:cNvSpPr/>
          <p:nvPr/>
        </p:nvSpPr>
        <p:spPr>
          <a:xfrm>
            <a:off x="5238206" y="4297680"/>
            <a:ext cx="20116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75C6636D-FAF5-7046-E32E-EFCFCBFC7E0E}"/>
              </a:ext>
            </a:extLst>
          </p:cNvPr>
          <p:cNvSpPr/>
          <p:nvPr/>
        </p:nvSpPr>
        <p:spPr>
          <a:xfrm>
            <a:off x="5238206" y="4297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Filtered DataFrame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566890" y="340614"/>
            <a:ext cx="67345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Tables and Structure</a:t>
            </a:r>
            <a:endParaRPr lang="en-US" sz="28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0954367A-E96F-6025-616C-D7B512161446}"/>
              </a:ext>
            </a:extLst>
          </p:cNvPr>
          <p:cNvSpPr/>
          <p:nvPr/>
        </p:nvSpPr>
        <p:spPr>
          <a:xfrm>
            <a:off x="269748" y="980694"/>
            <a:ext cx="8412480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2E779CF-C52A-E29D-0E49-49B1FB809947}"/>
              </a:ext>
            </a:extLst>
          </p:cNvPr>
          <p:cNvSpPr/>
          <p:nvPr/>
        </p:nvSpPr>
        <p:spPr>
          <a:xfrm>
            <a:off x="388620" y="104013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Schema — database.sql</a:t>
            </a:r>
            <a:endParaRPr lang="en-US" sz="13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439A160-AB04-68CA-D1C9-01B87E40C4D1}"/>
              </a:ext>
            </a:extLst>
          </p:cNvPr>
          <p:cNvSpPr/>
          <p:nvPr/>
        </p:nvSpPr>
        <p:spPr>
          <a:xfrm>
            <a:off x="388620" y="140589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analysis;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analysis;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sales_data 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order_id       VARCHAR(100),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order_date     DATE,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ship_date      DATE,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      VARCHAR(100),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product_name   VARCHAR(255),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         VARCHAR(100),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          FLOAT,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profit         FLOAT,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quantity       INT,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discount       FLOAT,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shipping_cost  FLOAT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DC424CDE-E44D-3ACA-C554-6E8442E1B7ED}"/>
              </a:ext>
            </a:extLst>
          </p:cNvPr>
          <p:cNvSpPr/>
          <p:nvPr/>
        </p:nvSpPr>
        <p:spPr>
          <a:xfrm>
            <a:off x="169164" y="4222242"/>
            <a:ext cx="199339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827E1D01-B521-1A02-CAE7-6E8D94DF43D8}"/>
              </a:ext>
            </a:extLst>
          </p:cNvPr>
          <p:cNvSpPr/>
          <p:nvPr/>
        </p:nvSpPr>
        <p:spPr>
          <a:xfrm>
            <a:off x="251460" y="417652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(via pandas to_sql)</a:t>
            </a:r>
            <a:endParaRPr lang="en-US" sz="11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3037A5F1-7AC7-B00F-07D3-DD07454F2FA4}"/>
              </a:ext>
            </a:extLst>
          </p:cNvPr>
          <p:cNvSpPr/>
          <p:nvPr/>
        </p:nvSpPr>
        <p:spPr>
          <a:xfrm>
            <a:off x="2318004" y="4221589"/>
            <a:ext cx="199339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C8F0600D-CBE5-DA09-25EA-AA352C9878F8}"/>
              </a:ext>
            </a:extLst>
          </p:cNvPr>
          <p:cNvSpPr/>
          <p:nvPr/>
        </p:nvSpPr>
        <p:spPr>
          <a:xfrm>
            <a:off x="2409444" y="417652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sales_data</a:t>
            </a:r>
            <a:endParaRPr lang="en-US" sz="11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34837E61-F27A-20F1-91F4-CFF6D5E39B53}"/>
              </a:ext>
            </a:extLst>
          </p:cNvPr>
          <p:cNvSpPr/>
          <p:nvPr/>
        </p:nvSpPr>
        <p:spPr>
          <a:xfrm>
            <a:off x="4466844" y="4221589"/>
            <a:ext cx="199339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6B632C41-7C3D-87FB-EFA0-4FEB81C5C53A}"/>
              </a:ext>
            </a:extLst>
          </p:cNvPr>
          <p:cNvSpPr/>
          <p:nvPr/>
        </p:nvSpPr>
        <p:spPr>
          <a:xfrm>
            <a:off x="4567428" y="417652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/ TRUNCATE TABLE</a:t>
            </a:r>
            <a:endParaRPr lang="en-US" sz="1100" dirty="0"/>
          </a:p>
        </p:txBody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6AEA3BCA-297E-27A0-7CD2-10974CDB8E2F}"/>
              </a:ext>
            </a:extLst>
          </p:cNvPr>
          <p:cNvSpPr/>
          <p:nvPr/>
        </p:nvSpPr>
        <p:spPr>
          <a:xfrm>
            <a:off x="6633972" y="4209832"/>
            <a:ext cx="1993392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CF7162F5-B4BE-4F9E-41EB-3669FB5713F8}"/>
              </a:ext>
            </a:extLst>
          </p:cNvPr>
          <p:cNvSpPr/>
          <p:nvPr/>
        </p:nvSpPr>
        <p:spPr>
          <a:xfrm>
            <a:off x="6725412" y="417652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via SQLAlchemy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  UI DESIGN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-  UI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828800" cy="3566160"/>
          </a:xfrm>
          <a:prstGeom prst="rect">
            <a:avLst/>
          </a:prstGeom>
          <a:solidFill>
            <a:srgbClr val="112240"/>
          </a:solidFill>
          <a:ln w="12700">
            <a:solidFill>
              <a:srgbClr val="2563EB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3C5FD"/>
                </a:solidFill>
              </a:rPr>
              <a:t>Sidebar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Upload 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Select 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93522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Apply Filters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164592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465576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</a:rPr>
              <a:t>Dark/Light Mode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95928"/>
            <a:ext cx="1645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99592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⬇ Export 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325880"/>
            <a:ext cx="64008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77440" y="13716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Analytics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31720" y="187452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331720" y="1920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██████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931920" y="187452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931920" y="1920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93192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██████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32120" y="187452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32120" y="1920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Orders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3212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██████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32320" y="1874520"/>
            <a:ext cx="150876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132320" y="192024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Quantity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32320" y="21762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██████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331720" y="2651760"/>
            <a:ext cx="306324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423160" y="33375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📈 Sales Trend Chart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2651760"/>
            <a:ext cx="3200400" cy="1645920"/>
          </a:xfrm>
          <a:prstGeom prst="rect">
            <a:avLst/>
          </a:prstGeom>
          <a:solidFill>
            <a:srgbClr val="1122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623560" y="3337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📊 Category Bar Chart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31720" y="43708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Tabs: Sales Trend  |  Category  |  Region  |  Top Products  |  Monthly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  MODULES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and Features of the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8892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84632" y="161848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6420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618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&amp; Storage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single or multiple CSV files. Auto-cleaned and stored in MySQL with deduplication support.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64408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64408" y="1417320"/>
            <a:ext cx="2788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29000" y="1618488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66420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14216" y="1618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01568" y="21945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Total Sales, Profit, Orders, Quantity as large metric cards with hover animations.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08776" y="141732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208776" y="1417320"/>
            <a:ext cx="278892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6373368" y="161848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66420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58584" y="16184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45936" y="21945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data by category, region, date range, and discount using sidebar controls.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320040" y="3200400"/>
            <a:ext cx="278892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484632" y="3401568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44728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9848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Insights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6+ business insights automatically — top category, best product, avg sales, negative profit count.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64408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64408" y="3200400"/>
            <a:ext cx="27889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3429000" y="340156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447288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14216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01568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Plotly chart types: sales trend (line), category (bar), regional profit, top 10 products, monthly sales.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208776" y="3200400"/>
            <a:ext cx="2788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208776" y="320040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0"/>
          <p:cNvSpPr/>
          <p:nvPr/>
        </p:nvSpPr>
        <p:spPr>
          <a:xfrm>
            <a:off x="6373368" y="34015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3447288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58584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45936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the full dashboard (KPIs + charts + insights) as a multi-page PDF via ReportLab.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  CHALLENGES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During Development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38912" y="152704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Connection: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reruns on every interaction — solved with SQLAlchemy pool_pre_ping and careful session handling.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8912" y="227685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Chart Export (Kaleido):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Kaleido requires a browser subprocess to render Plotly to PNG.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38912" y="302666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8912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Dataset: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21868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uploaded twice created conflicts 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8912" y="37764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38912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CSS Theming: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39684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overrides CSS aggressively — used attribute selectors [data-theme] with high-specificity rules to force styles.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370832"/>
            <a:ext cx="8412480" cy="658368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38912" y="45262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38912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CSV Formats: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7183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CSVs have inconsistent column names and data types — built clean_data() to normalize all incoming data.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14  FUTURE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685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 / Scope of the Project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43000" y="15087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554480"/>
            <a:ext cx="292608" cy="2926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18488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1947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login/register so multiple users can manage their own datasets securely.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417320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532120" y="15087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55448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07608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Forecasting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6320" y="194767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time-series forecasting (Prophet / LSTM) for sales prediction.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6791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1143000" y="27706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281635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18488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Chart Types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320954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scatter plots, heat maps, geo maps, and customizable chart builder.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09160" y="267919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5532120" y="277063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816352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007608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846320" y="320954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Streamlit Cloud or AWS with managed RDS MySQL for production use.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" y="3941064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0"/>
          <p:cNvSpPr/>
          <p:nvPr/>
        </p:nvSpPr>
        <p:spPr>
          <a:xfrm>
            <a:off x="1143000" y="40325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4078224"/>
            <a:ext cx="292608" cy="29260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618488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Email Export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57200" y="44714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filtered data as Excel files and schedule email reports automatically.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709160" y="3913632"/>
            <a:ext cx="41605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36"/>
          <p:cNvSpPr/>
          <p:nvPr/>
        </p:nvSpPr>
        <p:spPr>
          <a:xfrm>
            <a:off x="5532120" y="403250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7840" y="4078224"/>
            <a:ext cx="292608" cy="29260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007608" y="40325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846320" y="447141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APIs (e.g., Shopify, WooCommerce) for automatic data ingestion without manual CSV uploads.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94C104-DBF6-B37B-4940-5F62FBF94766}"/>
              </a:ext>
            </a:extLst>
          </p:cNvPr>
          <p:cNvSpPr txBox="1"/>
          <p:nvPr/>
        </p:nvSpPr>
        <p:spPr>
          <a:xfrm>
            <a:off x="5916168" y="4020713"/>
            <a:ext cx="22803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2">
                    <a:lumMod val="50000"/>
                  </a:schemeClr>
                </a:solidFill>
              </a:rPr>
              <a:t>Real time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3">
            <a:extLst>
              <a:ext uri="{FF2B5EF4-FFF2-40B4-BE49-F238E27FC236}">
                <a16:creationId xmlns:a16="http://schemas.microsoft.com/office/drawing/2014/main" id="{7D8AFB5F-AA2F-D564-F62F-4AD7FFC14F37}"/>
              </a:ext>
            </a:extLst>
          </p:cNvPr>
          <p:cNvSpPr/>
          <p:nvPr/>
        </p:nvSpPr>
        <p:spPr>
          <a:xfrm>
            <a:off x="333756" y="1072134"/>
            <a:ext cx="128016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8CE3F91E-F1CE-F3A8-9B52-0A8518FABBFD}"/>
              </a:ext>
            </a:extLst>
          </p:cNvPr>
          <p:cNvSpPr/>
          <p:nvPr/>
        </p:nvSpPr>
        <p:spPr>
          <a:xfrm>
            <a:off x="333756" y="1072134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2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6992A474-C6F3-92D1-FB13-EE7D95D96AEF}"/>
              </a:ext>
            </a:extLst>
          </p:cNvPr>
          <p:cNvSpPr/>
          <p:nvPr/>
        </p:nvSpPr>
        <p:spPr>
          <a:xfrm>
            <a:off x="1677924" y="1083564"/>
            <a:ext cx="7132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A000DAEF-F361-F6AC-2F2D-D5561E42C93E}"/>
              </a:ext>
            </a:extLst>
          </p:cNvPr>
          <p:cNvSpPr/>
          <p:nvPr/>
        </p:nvSpPr>
        <p:spPr>
          <a:xfrm>
            <a:off x="1824228" y="111785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→ Logic building </a:t>
            </a:r>
            <a:endParaRPr lang="en-US" sz="12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E353B0F-031B-217A-5574-E4C454EFE569}"/>
              </a:ext>
            </a:extLst>
          </p:cNvPr>
          <p:cNvSpPr/>
          <p:nvPr/>
        </p:nvSpPr>
        <p:spPr>
          <a:xfrm>
            <a:off x="1824228" y="141046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→ Statistical thinking </a:t>
            </a:r>
            <a:endParaRPr lang="en-US" sz="1200" dirty="0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1A83F5E6-4BBC-D986-C28D-9175074CCA55}"/>
              </a:ext>
            </a:extLst>
          </p:cNvPr>
          <p:cNvSpPr/>
          <p:nvPr/>
        </p:nvSpPr>
        <p:spPr>
          <a:xfrm>
            <a:off x="333756" y="1876806"/>
            <a:ext cx="128016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6257EED5-0C51-EDFE-F589-3F063F9898AB}"/>
              </a:ext>
            </a:extLst>
          </p:cNvPr>
          <p:cNvSpPr/>
          <p:nvPr/>
        </p:nvSpPr>
        <p:spPr>
          <a:xfrm>
            <a:off x="333756" y="1876806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1200" dirty="0"/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3CE96F83-7413-A2E9-405D-227E6019638E}"/>
              </a:ext>
            </a:extLst>
          </p:cNvPr>
          <p:cNvSpPr/>
          <p:nvPr/>
        </p:nvSpPr>
        <p:spPr>
          <a:xfrm>
            <a:off x="1677924" y="1876806"/>
            <a:ext cx="7132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DFA8EA5A-52F8-CA5D-A652-FB32C5ED1EBA}"/>
              </a:ext>
            </a:extLst>
          </p:cNvPr>
          <p:cNvSpPr/>
          <p:nvPr/>
        </p:nvSpPr>
        <p:spPr>
          <a:xfrm>
            <a:off x="1824228" y="192252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Programming → Data structures and algorithm for more understanding</a:t>
            </a:r>
            <a:endParaRPr lang="en-US" sz="12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AAAD577-3E2D-816C-C3BD-35C64FF72763}"/>
              </a:ext>
            </a:extLst>
          </p:cNvPr>
          <p:cNvSpPr/>
          <p:nvPr/>
        </p:nvSpPr>
        <p:spPr>
          <a:xfrm>
            <a:off x="1824228" y="221513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→ MySQL schema design, SQL queries, normalization</a:t>
            </a:r>
            <a:endParaRPr lang="en-US" sz="1200" dirty="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084D19F7-6571-2060-8569-4098547A2E92}"/>
              </a:ext>
            </a:extLst>
          </p:cNvPr>
          <p:cNvSpPr/>
          <p:nvPr/>
        </p:nvSpPr>
        <p:spPr>
          <a:xfrm>
            <a:off x="333756" y="2681478"/>
            <a:ext cx="128016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38B5CF6-AAD4-A43F-4CE0-EC2470182E7A}"/>
              </a:ext>
            </a:extLst>
          </p:cNvPr>
          <p:cNvSpPr/>
          <p:nvPr/>
        </p:nvSpPr>
        <p:spPr>
          <a:xfrm>
            <a:off x="333756" y="2681478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12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47AE33CD-CD7F-3BA5-568D-6FEE21E941AA}"/>
              </a:ext>
            </a:extLst>
          </p:cNvPr>
          <p:cNvSpPr/>
          <p:nvPr/>
        </p:nvSpPr>
        <p:spPr>
          <a:xfrm>
            <a:off x="1677924" y="2681478"/>
            <a:ext cx="7132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AAA658F1-4D37-8F8A-00FC-4482894EEB97}"/>
              </a:ext>
            </a:extLst>
          </p:cNvPr>
          <p:cNvSpPr/>
          <p:nvPr/>
        </p:nvSpPr>
        <p:spPr>
          <a:xfrm>
            <a:off x="1824228" y="272719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Programming  → Learning about GUI Applications</a:t>
            </a:r>
            <a:endParaRPr lang="en-US" sz="1200" dirty="0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7784226E-2545-7180-F530-D704606ADA4A}"/>
              </a:ext>
            </a:extLst>
          </p:cNvPr>
          <p:cNvSpPr/>
          <p:nvPr/>
        </p:nvSpPr>
        <p:spPr>
          <a:xfrm>
            <a:off x="1824228" y="301980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/>
              <a:t>Android Programming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Learning about  building Mobile Applications </a:t>
            </a:r>
            <a:r>
              <a:rPr lang="en-US" sz="1200" dirty="0"/>
              <a:t> </a:t>
            </a:r>
          </a:p>
        </p:txBody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CF976291-B936-3376-D72F-8704ED6E2F1E}"/>
              </a:ext>
            </a:extLst>
          </p:cNvPr>
          <p:cNvSpPr/>
          <p:nvPr/>
        </p:nvSpPr>
        <p:spPr>
          <a:xfrm>
            <a:off x="333756" y="3486150"/>
            <a:ext cx="12801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FB705C7D-017B-C9B5-0A9A-C12A62B4324C}"/>
              </a:ext>
            </a:extLst>
          </p:cNvPr>
          <p:cNvSpPr/>
          <p:nvPr/>
        </p:nvSpPr>
        <p:spPr>
          <a:xfrm>
            <a:off x="333756" y="348615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12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E7E28D40-5FB1-9487-80E0-6459D1D8403E}"/>
              </a:ext>
            </a:extLst>
          </p:cNvPr>
          <p:cNvSpPr/>
          <p:nvPr/>
        </p:nvSpPr>
        <p:spPr>
          <a:xfrm>
            <a:off x="1677924" y="3486150"/>
            <a:ext cx="7132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E100B230-6BAA-B706-E94D-2CF4E5177D4A}"/>
              </a:ext>
            </a:extLst>
          </p:cNvPr>
          <p:cNvSpPr/>
          <p:nvPr/>
        </p:nvSpPr>
        <p:spPr>
          <a:xfrm>
            <a:off x="1824228" y="353187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/>
              <a:t>Python Programming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Core language for all modules</a:t>
            </a:r>
            <a:r>
              <a:rPr lang="en-US" sz="1200" dirty="0"/>
              <a:t> </a:t>
            </a:r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E60E7BC1-0277-9137-9938-3FF8DF561650}"/>
              </a:ext>
            </a:extLst>
          </p:cNvPr>
          <p:cNvSpPr/>
          <p:nvPr/>
        </p:nvSpPr>
        <p:spPr>
          <a:xfrm>
            <a:off x="1824228" y="382447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→ Learning about Basics and understanding the AI </a:t>
            </a:r>
            <a:endParaRPr lang="en-US" sz="1200" dirty="0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BA922DAA-66A0-451E-3100-D392A98AE050}"/>
              </a:ext>
            </a:extLst>
          </p:cNvPr>
          <p:cNvSpPr/>
          <p:nvPr/>
        </p:nvSpPr>
        <p:spPr>
          <a:xfrm>
            <a:off x="333756" y="4290822"/>
            <a:ext cx="1280160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6AFF9BFB-318A-EE29-7875-2DF694811022}"/>
              </a:ext>
            </a:extLst>
          </p:cNvPr>
          <p:cNvSpPr/>
          <p:nvPr/>
        </p:nvSpPr>
        <p:spPr>
          <a:xfrm>
            <a:off x="333756" y="429082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6</a:t>
            </a:r>
            <a:endParaRPr lang="en-US" sz="1200" dirty="0"/>
          </a:p>
        </p:txBody>
      </p:sp>
      <p:sp>
        <p:nvSpPr>
          <p:cNvPr id="44" name="Shape 25">
            <a:extLst>
              <a:ext uri="{FF2B5EF4-FFF2-40B4-BE49-F238E27FC236}">
                <a16:creationId xmlns:a16="http://schemas.microsoft.com/office/drawing/2014/main" id="{29A79EF3-EB4F-3A70-FEFC-36F9AB0EB83D}"/>
              </a:ext>
            </a:extLst>
          </p:cNvPr>
          <p:cNvSpPr/>
          <p:nvPr/>
        </p:nvSpPr>
        <p:spPr>
          <a:xfrm>
            <a:off x="1677924" y="4290822"/>
            <a:ext cx="7132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14AECF2A-85D1-CD47-69C7-E97278EBD85A}"/>
              </a:ext>
            </a:extLst>
          </p:cNvPr>
          <p:cNvSpPr/>
          <p:nvPr/>
        </p:nvSpPr>
        <p:spPr>
          <a:xfrm>
            <a:off x="1824228" y="433654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→ Handling the Big Data and Analysis</a:t>
            </a:r>
            <a:endParaRPr lang="en-US" sz="1200" dirty="0"/>
          </a:p>
        </p:txBody>
      </p:sp>
      <p:sp>
        <p:nvSpPr>
          <p:cNvPr id="46" name="Text 27">
            <a:extLst>
              <a:ext uri="{FF2B5EF4-FFF2-40B4-BE49-F238E27FC236}">
                <a16:creationId xmlns:a16="http://schemas.microsoft.com/office/drawing/2014/main" id="{A05F61AD-020C-A5A8-DA13-725AF94392DC}"/>
              </a:ext>
            </a:extLst>
          </p:cNvPr>
          <p:cNvSpPr/>
          <p:nvPr/>
        </p:nvSpPr>
        <p:spPr>
          <a:xfrm>
            <a:off x="1824228" y="462915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→ Team collaboration, version control with Git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4396CA-3774-E280-3F65-F3613470D8C1}"/>
              </a:ext>
            </a:extLst>
          </p:cNvPr>
          <p:cNvSpPr txBox="1"/>
          <p:nvPr/>
        </p:nvSpPr>
        <p:spPr>
          <a:xfrm>
            <a:off x="48985" y="133195"/>
            <a:ext cx="90460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IN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4572000" cy="45720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Analytics Dashboard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MySQL  ·  Plotly  ·  ReportLab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1262</Words>
  <Application>Microsoft Office PowerPoint</Application>
  <PresentationFormat>On-screen Show (16:9)</PresentationFormat>
  <Paragraphs>271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Analytics Dashboard — Final Year Project</dc:title>
  <dc:subject>PptxGenJS Presentation</dc:subject>
  <dc:creator>PptxGenJS</dc:creator>
  <cp:lastModifiedBy>Heyy. MOHIT</cp:lastModifiedBy>
  <cp:revision>23</cp:revision>
  <dcterms:created xsi:type="dcterms:W3CDTF">2026-05-21T04:50:44Z</dcterms:created>
  <dcterms:modified xsi:type="dcterms:W3CDTF">2026-05-21T07:16:58Z</dcterms:modified>
</cp:coreProperties>
</file>